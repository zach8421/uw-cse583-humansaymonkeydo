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g3a2ce5fcade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 name="Google Shape;58;g3a2ce5fcade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AJ</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 name="Shape 64"/>
        <p:cNvGrpSpPr/>
        <p:nvPr/>
      </p:nvGrpSpPr>
      <p:grpSpPr>
        <a:xfrm>
          <a:off x="0" y="0"/>
          <a:ext cx="0" cy="0"/>
          <a:chOff x="0" y="0"/>
          <a:chExt cx="0" cy="0"/>
        </a:xfrm>
      </p:grpSpPr>
      <p:sp>
        <p:nvSpPr>
          <p:cNvPr id="65" name="Google Shape;65;g3a2ce5fcade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6" name="Google Shape;66;g3a2ce5fcade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AJ</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 name="Shape 71"/>
        <p:cNvGrpSpPr/>
        <p:nvPr/>
      </p:nvGrpSpPr>
      <p:grpSpPr>
        <a:xfrm>
          <a:off x="0" y="0"/>
          <a:ext cx="0" cy="0"/>
          <a:chOff x="0" y="0"/>
          <a:chExt cx="0" cy="0"/>
        </a:xfrm>
      </p:grpSpPr>
      <p:sp>
        <p:nvSpPr>
          <p:cNvPr id="72" name="Google Shape;72;g3a2ce5fcade_0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3" name="Google Shape;73;g3a2ce5fcade_0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 name="Shape 78"/>
        <p:cNvGrpSpPr/>
        <p:nvPr/>
      </p:nvGrpSpPr>
      <p:grpSpPr>
        <a:xfrm>
          <a:off x="0" y="0"/>
          <a:ext cx="0" cy="0"/>
          <a:chOff x="0" y="0"/>
          <a:chExt cx="0" cy="0"/>
        </a:xfrm>
      </p:grpSpPr>
      <p:sp>
        <p:nvSpPr>
          <p:cNvPr id="79" name="Google Shape;79;g3a2ce5fcade_0_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0" name="Google Shape;80;g3a2ce5fcade_0_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Script:</a:t>
            </a:r>
            <a:endParaRPr/>
          </a:p>
          <a:p>
            <a:pPr indent="0" lvl="0" marL="0" rtl="0" algn="l">
              <a:spcBef>
                <a:spcPts val="0"/>
              </a:spcBef>
              <a:spcAft>
                <a:spcPts val="0"/>
              </a:spcAft>
              <a:buNone/>
            </a:pPr>
            <a:r>
              <a:rPr lang="en"/>
              <a:t>Pineapple is a very cool neural computational toolbox custom built by labs from the Flatiron Institute of computational neuroscience in New York. Its plug and play for neural data, has purpose built modules for the types of analysis we want to do, and has high growth potential.</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The core drawback of this package is that it is incredibly technical with a steep learning curve. The creators even offer a 3 day intensive in person workshop to train neuroscienctist how to utilize these tools. Because we don’t have that level of expertise or time for this project, this package is less than ideal.</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g3a2ce5fcade_0_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8" name="Google Shape;88;g3a2ce5fcade_0_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Yici</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g3a2ce5fcade_0_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6" name="Google Shape;96;g3a2ce5fcade_0_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95000"/>
              </a:lnSpc>
              <a:spcBef>
                <a:spcPts val="1200"/>
              </a:spcBef>
              <a:spcAft>
                <a:spcPts val="1200"/>
              </a:spcAft>
              <a:buNone/>
            </a:pPr>
            <a:r>
              <a:t/>
            </a:r>
            <a:endParaRPr sz="1200">
              <a:solidFill>
                <a:srgbClr val="595959"/>
              </a:solidFill>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g3a2e15fa9b2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2" name="Google Shape;102;g3a2e15fa9b2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6.png"/><Relationship Id="rId4"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hyperlink" Target="https://github.com/scikit-learn/scikit-learn" TargetMode="External"/><Relationship Id="rId4" Type="http://schemas.openxmlformats.org/officeDocument/2006/relationships/hyperlink" Target="https://github.com/pynapple-org/pynapple" TargetMode="External"/><Relationship Id="rId5" Type="http://schemas.openxmlformats.org/officeDocument/2006/relationships/hyperlink" Target="https://github.com/statsmodels/statsmodels"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hyperlink" Target="https://github.com/scikit-learn/scikit-learn" TargetMode="External"/><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hyperlink" Target="https://github.com/pynapple-org/pynapple" TargetMode="External"/><Relationship Id="rId4" Type="http://schemas.openxmlformats.org/officeDocument/2006/relationships/image" Target="../media/image4.png"/><Relationship Id="rId5"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hyperlink" Target="https://github.com/statsmodels/statsmodels" TargetMode="External"/><Relationship Id="rId4" Type="http://schemas.openxmlformats.org/officeDocument/2006/relationships/image" Target="../media/image5.png"/><Relationship Id="rId5" Type="http://schemas.openxmlformats.org/officeDocument/2006/relationships/image" Target="../media/image7.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a:t>Human Say, Monkey Do</a:t>
            </a:r>
            <a:endParaRPr/>
          </a:p>
        </p:txBody>
      </p:sp>
      <p:sp>
        <p:nvSpPr>
          <p:cNvPr id="55" name="Google Shape;55;p13"/>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a:t>Tech Review: Scientific Computing Package</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 name="Shape 59"/>
        <p:cNvGrpSpPr/>
        <p:nvPr/>
      </p:nvGrpSpPr>
      <p:grpSpPr>
        <a:xfrm>
          <a:off x="0" y="0"/>
          <a:ext cx="0" cy="0"/>
          <a:chOff x="0" y="0"/>
          <a:chExt cx="0" cy="0"/>
        </a:xfrm>
      </p:grpSpPr>
      <p:pic>
        <p:nvPicPr>
          <p:cNvPr id="60" name="Google Shape;60;p14"/>
          <p:cNvPicPr preferRelativeResize="0"/>
          <p:nvPr/>
        </p:nvPicPr>
        <p:blipFill>
          <a:blip r:embed="rId3">
            <a:alphaModFix/>
          </a:blip>
          <a:stretch>
            <a:fillRect/>
          </a:stretch>
        </p:blipFill>
        <p:spPr>
          <a:xfrm>
            <a:off x="5187324" y="0"/>
            <a:ext cx="3347159" cy="2667001"/>
          </a:xfrm>
          <a:prstGeom prst="rect">
            <a:avLst/>
          </a:prstGeom>
          <a:noFill/>
          <a:ln>
            <a:noFill/>
          </a:ln>
        </p:spPr>
      </p:pic>
      <p:sp>
        <p:nvSpPr>
          <p:cNvPr id="61" name="Google Shape;61;p14"/>
          <p:cNvSpPr txBox="1"/>
          <p:nvPr/>
        </p:nvSpPr>
        <p:spPr>
          <a:xfrm>
            <a:off x="191600" y="1072400"/>
            <a:ext cx="3567900" cy="3509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2"/>
                </a:solidFill>
              </a:rPr>
              <a:t>Monkey Dataset:</a:t>
            </a:r>
            <a:endParaRPr sz="1800">
              <a:solidFill>
                <a:schemeClr val="dk2"/>
              </a:solidFill>
            </a:endParaRPr>
          </a:p>
          <a:p>
            <a:pPr indent="-342900" lvl="0" marL="457200" rtl="0" algn="l">
              <a:spcBef>
                <a:spcPts val="0"/>
              </a:spcBef>
              <a:spcAft>
                <a:spcPts val="0"/>
              </a:spcAft>
              <a:buClr>
                <a:schemeClr val="dk2"/>
              </a:buClr>
              <a:buSzPts val="1800"/>
              <a:buChar char="-"/>
            </a:pPr>
            <a:r>
              <a:rPr lang="en" sz="1800">
                <a:solidFill>
                  <a:schemeClr val="dk2"/>
                </a:solidFill>
              </a:rPr>
              <a:t>Motor cortex neural activity</a:t>
            </a:r>
            <a:endParaRPr sz="1800">
              <a:solidFill>
                <a:schemeClr val="dk2"/>
              </a:solidFill>
            </a:endParaRPr>
          </a:p>
          <a:p>
            <a:pPr indent="-342900" lvl="0" marL="457200" rtl="0" algn="l">
              <a:spcBef>
                <a:spcPts val="0"/>
              </a:spcBef>
              <a:spcAft>
                <a:spcPts val="0"/>
              </a:spcAft>
              <a:buClr>
                <a:schemeClr val="dk2"/>
              </a:buClr>
              <a:buSzPts val="1800"/>
              <a:buChar char="-"/>
            </a:pPr>
            <a:r>
              <a:rPr lang="en" sz="1800">
                <a:solidFill>
                  <a:schemeClr val="dk2"/>
                </a:solidFill>
              </a:rPr>
              <a:t>Reaching behavior</a:t>
            </a:r>
            <a:endParaRPr sz="1800">
              <a:solidFill>
                <a:schemeClr val="dk2"/>
              </a:solidFill>
            </a:endParaRPr>
          </a:p>
          <a:p>
            <a:pPr indent="0" lvl="0" marL="0" rtl="0" algn="l">
              <a:spcBef>
                <a:spcPts val="0"/>
              </a:spcBef>
              <a:spcAft>
                <a:spcPts val="0"/>
              </a:spcAft>
              <a:buNone/>
            </a:pPr>
            <a:r>
              <a:t/>
            </a:r>
            <a:endParaRPr sz="1800">
              <a:solidFill>
                <a:schemeClr val="dk2"/>
              </a:solidFill>
            </a:endParaRPr>
          </a:p>
          <a:p>
            <a:pPr indent="0" lvl="0" marL="0" rtl="0" algn="l">
              <a:spcBef>
                <a:spcPts val="0"/>
              </a:spcBef>
              <a:spcAft>
                <a:spcPts val="0"/>
              </a:spcAft>
              <a:buNone/>
            </a:pPr>
            <a:r>
              <a:rPr lang="en" sz="1800">
                <a:solidFill>
                  <a:schemeClr val="dk2"/>
                </a:solidFill>
              </a:rPr>
              <a:t>Human Dataset:</a:t>
            </a:r>
            <a:endParaRPr sz="1800">
              <a:solidFill>
                <a:schemeClr val="dk2"/>
              </a:solidFill>
            </a:endParaRPr>
          </a:p>
          <a:p>
            <a:pPr indent="-342900" lvl="0" marL="457200" rtl="0" algn="l">
              <a:spcBef>
                <a:spcPts val="0"/>
              </a:spcBef>
              <a:spcAft>
                <a:spcPts val="0"/>
              </a:spcAft>
              <a:buClr>
                <a:schemeClr val="dk2"/>
              </a:buClr>
              <a:buSzPts val="1800"/>
              <a:buChar char="-"/>
            </a:pPr>
            <a:r>
              <a:rPr lang="en" sz="1800">
                <a:solidFill>
                  <a:schemeClr val="dk2"/>
                </a:solidFill>
              </a:rPr>
              <a:t>Motor cortex neural activity</a:t>
            </a:r>
            <a:endParaRPr sz="1800">
              <a:solidFill>
                <a:schemeClr val="dk2"/>
              </a:solidFill>
            </a:endParaRPr>
          </a:p>
          <a:p>
            <a:pPr indent="-342900" lvl="0" marL="457200" rtl="0" algn="l">
              <a:spcBef>
                <a:spcPts val="0"/>
              </a:spcBef>
              <a:spcAft>
                <a:spcPts val="0"/>
              </a:spcAft>
              <a:buClr>
                <a:schemeClr val="dk2"/>
              </a:buClr>
              <a:buSzPts val="1800"/>
              <a:buChar char="-"/>
            </a:pPr>
            <a:r>
              <a:rPr lang="en" sz="1800">
                <a:solidFill>
                  <a:schemeClr val="dk2"/>
                </a:solidFill>
              </a:rPr>
              <a:t>Speech generation</a:t>
            </a:r>
            <a:endParaRPr sz="1800">
              <a:solidFill>
                <a:schemeClr val="dk2"/>
              </a:solidFill>
            </a:endParaRPr>
          </a:p>
          <a:p>
            <a:pPr indent="0" lvl="0" marL="0" rtl="0" algn="l">
              <a:spcBef>
                <a:spcPts val="0"/>
              </a:spcBef>
              <a:spcAft>
                <a:spcPts val="0"/>
              </a:spcAft>
              <a:buNone/>
            </a:pPr>
            <a:r>
              <a:t/>
            </a:r>
            <a:endParaRPr sz="1800">
              <a:solidFill>
                <a:schemeClr val="dk2"/>
              </a:solidFill>
            </a:endParaRPr>
          </a:p>
          <a:p>
            <a:pPr indent="0" lvl="0" marL="0" rtl="0" algn="l">
              <a:spcBef>
                <a:spcPts val="0"/>
              </a:spcBef>
              <a:spcAft>
                <a:spcPts val="0"/>
              </a:spcAft>
              <a:buNone/>
            </a:pPr>
            <a:r>
              <a:rPr lang="en" sz="1800">
                <a:solidFill>
                  <a:schemeClr val="dk2"/>
                </a:solidFill>
              </a:rPr>
              <a:t>Question:</a:t>
            </a:r>
            <a:endParaRPr sz="1800">
              <a:solidFill>
                <a:schemeClr val="dk2"/>
              </a:solidFill>
            </a:endParaRPr>
          </a:p>
          <a:p>
            <a:pPr indent="-342900" lvl="0" marL="457200" rtl="0" algn="l">
              <a:spcBef>
                <a:spcPts val="0"/>
              </a:spcBef>
              <a:spcAft>
                <a:spcPts val="0"/>
              </a:spcAft>
              <a:buClr>
                <a:schemeClr val="dk2"/>
              </a:buClr>
              <a:buSzPts val="1800"/>
              <a:buChar char="-"/>
            </a:pPr>
            <a:r>
              <a:rPr lang="en" sz="1800">
                <a:solidFill>
                  <a:schemeClr val="dk2"/>
                </a:solidFill>
              </a:rPr>
              <a:t>How are they similar?</a:t>
            </a:r>
            <a:endParaRPr sz="1800">
              <a:solidFill>
                <a:schemeClr val="dk2"/>
              </a:solidFill>
            </a:endParaRPr>
          </a:p>
          <a:p>
            <a:pPr indent="-342900" lvl="0" marL="457200" rtl="0" algn="l">
              <a:spcBef>
                <a:spcPts val="0"/>
              </a:spcBef>
              <a:spcAft>
                <a:spcPts val="0"/>
              </a:spcAft>
              <a:buClr>
                <a:schemeClr val="dk2"/>
              </a:buClr>
              <a:buSzPts val="1800"/>
              <a:buChar char="-"/>
            </a:pPr>
            <a:r>
              <a:rPr lang="en" sz="1800">
                <a:solidFill>
                  <a:schemeClr val="dk2"/>
                </a:solidFill>
              </a:rPr>
              <a:t>How do decoders compare on these datasets?</a:t>
            </a:r>
            <a:endParaRPr sz="1800">
              <a:solidFill>
                <a:schemeClr val="dk2"/>
              </a:solidFill>
            </a:endParaRPr>
          </a:p>
        </p:txBody>
      </p:sp>
      <p:pic>
        <p:nvPicPr>
          <p:cNvPr id="62" name="Google Shape;62;p14"/>
          <p:cNvPicPr preferRelativeResize="0"/>
          <p:nvPr/>
        </p:nvPicPr>
        <p:blipFill>
          <a:blip r:embed="rId4">
            <a:alphaModFix/>
          </a:blip>
          <a:stretch>
            <a:fillRect/>
          </a:stretch>
        </p:blipFill>
        <p:spPr>
          <a:xfrm>
            <a:off x="3810000" y="2476500"/>
            <a:ext cx="5334000" cy="2667000"/>
          </a:xfrm>
          <a:prstGeom prst="rect">
            <a:avLst/>
          </a:prstGeom>
          <a:noFill/>
          <a:ln>
            <a:noFill/>
          </a:ln>
        </p:spPr>
      </p:pic>
      <p:sp>
        <p:nvSpPr>
          <p:cNvPr id="63" name="Google Shape;63;p14"/>
          <p:cNvSpPr txBox="1"/>
          <p:nvPr/>
        </p:nvSpPr>
        <p:spPr>
          <a:xfrm>
            <a:off x="146800" y="296100"/>
            <a:ext cx="4299600" cy="738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3600">
                <a:solidFill>
                  <a:schemeClr val="dk2"/>
                </a:solidFill>
              </a:rPr>
              <a:t>Project Overview</a:t>
            </a:r>
            <a:endParaRPr sz="3600">
              <a:solidFill>
                <a:schemeClr val="dk2"/>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 name="Shape 67"/>
        <p:cNvGrpSpPr/>
        <p:nvPr/>
      </p:nvGrpSpPr>
      <p:grpSpPr>
        <a:xfrm>
          <a:off x="0" y="0"/>
          <a:ext cx="0" cy="0"/>
          <a:chOff x="0" y="0"/>
          <a:chExt cx="0" cy="0"/>
        </a:xfrm>
      </p:grpSpPr>
      <p:sp>
        <p:nvSpPr>
          <p:cNvPr id="68" name="Google Shape;68;p15"/>
          <p:cNvSpPr txBox="1"/>
          <p:nvPr/>
        </p:nvSpPr>
        <p:spPr>
          <a:xfrm>
            <a:off x="199225" y="940775"/>
            <a:ext cx="3567900" cy="3786600"/>
          </a:xfrm>
          <a:prstGeom prst="rect">
            <a:avLst/>
          </a:prstGeom>
          <a:noFill/>
          <a:ln>
            <a:noFill/>
          </a:ln>
        </p:spPr>
        <p:txBody>
          <a:bodyPr anchorCtr="0" anchor="t" bIns="91425" lIns="91425" spcFirstLastPara="1" rIns="91425" wrap="square" tIns="91425">
            <a:spAutoFit/>
          </a:bodyPr>
          <a:lstStyle/>
          <a:p>
            <a:pPr indent="-342900" lvl="0" marL="457200" rtl="0" algn="l">
              <a:spcBef>
                <a:spcPts val="0"/>
              </a:spcBef>
              <a:spcAft>
                <a:spcPts val="0"/>
              </a:spcAft>
              <a:buClr>
                <a:schemeClr val="dk2"/>
              </a:buClr>
              <a:buSzPts val="1800"/>
              <a:buAutoNum type="arabicPeriod"/>
            </a:pPr>
            <a:r>
              <a:rPr lang="en" sz="1800">
                <a:solidFill>
                  <a:schemeClr val="dk2"/>
                </a:solidFill>
              </a:rPr>
              <a:t>Project Analysis Goals</a:t>
            </a:r>
            <a:r>
              <a:rPr lang="en" sz="1800">
                <a:solidFill>
                  <a:schemeClr val="dk2"/>
                </a:solidFill>
              </a:rPr>
              <a:t>:</a:t>
            </a:r>
            <a:endParaRPr sz="1800">
              <a:solidFill>
                <a:schemeClr val="dk2"/>
              </a:solidFill>
            </a:endParaRPr>
          </a:p>
          <a:p>
            <a:pPr indent="-342900" lvl="0" marL="457200" rtl="0" algn="l">
              <a:spcBef>
                <a:spcPts val="0"/>
              </a:spcBef>
              <a:spcAft>
                <a:spcPts val="0"/>
              </a:spcAft>
              <a:buClr>
                <a:schemeClr val="dk2"/>
              </a:buClr>
              <a:buSzPts val="1800"/>
              <a:buChar char="-"/>
            </a:pPr>
            <a:r>
              <a:rPr lang="en" sz="1800">
                <a:solidFill>
                  <a:schemeClr val="dk2"/>
                </a:solidFill>
              </a:rPr>
              <a:t>Movement onset detection</a:t>
            </a:r>
            <a:endParaRPr sz="1800">
              <a:solidFill>
                <a:schemeClr val="dk2"/>
              </a:solidFill>
            </a:endParaRPr>
          </a:p>
          <a:p>
            <a:pPr indent="-342900" lvl="0" marL="457200" rtl="0" algn="l">
              <a:spcBef>
                <a:spcPts val="0"/>
              </a:spcBef>
              <a:spcAft>
                <a:spcPts val="0"/>
              </a:spcAft>
              <a:buClr>
                <a:schemeClr val="dk2"/>
              </a:buClr>
              <a:buSzPts val="1800"/>
              <a:buChar char="-"/>
            </a:pPr>
            <a:r>
              <a:rPr lang="en" sz="1800">
                <a:solidFill>
                  <a:schemeClr val="dk2"/>
                </a:solidFill>
              </a:rPr>
              <a:t>Tuning Curve analysis</a:t>
            </a:r>
            <a:endParaRPr sz="1800">
              <a:solidFill>
                <a:schemeClr val="dk2"/>
              </a:solidFill>
            </a:endParaRPr>
          </a:p>
          <a:p>
            <a:pPr indent="-342900" lvl="0" marL="457200" rtl="0" algn="l">
              <a:spcBef>
                <a:spcPts val="0"/>
              </a:spcBef>
              <a:spcAft>
                <a:spcPts val="0"/>
              </a:spcAft>
              <a:buClr>
                <a:schemeClr val="dk2"/>
              </a:buClr>
              <a:buSzPts val="1800"/>
              <a:buChar char="-"/>
            </a:pPr>
            <a:r>
              <a:rPr lang="en" sz="1800">
                <a:solidFill>
                  <a:schemeClr val="dk2"/>
                </a:solidFill>
              </a:rPr>
              <a:t>Target/phoneme decoding</a:t>
            </a:r>
            <a:endParaRPr sz="1800">
              <a:solidFill>
                <a:schemeClr val="dk2"/>
              </a:solidFill>
            </a:endParaRPr>
          </a:p>
          <a:p>
            <a:pPr indent="0" lvl="0" marL="0" rtl="0" algn="l">
              <a:spcBef>
                <a:spcPts val="0"/>
              </a:spcBef>
              <a:spcAft>
                <a:spcPts val="0"/>
              </a:spcAft>
              <a:buNone/>
            </a:pPr>
            <a:r>
              <a:t/>
            </a:r>
            <a:endParaRPr sz="1800">
              <a:solidFill>
                <a:schemeClr val="dk2"/>
              </a:solidFill>
            </a:endParaRPr>
          </a:p>
          <a:p>
            <a:pPr indent="-342900" lvl="0" marL="457200" rtl="0" algn="l">
              <a:spcBef>
                <a:spcPts val="0"/>
              </a:spcBef>
              <a:spcAft>
                <a:spcPts val="0"/>
              </a:spcAft>
              <a:buClr>
                <a:schemeClr val="dk2"/>
              </a:buClr>
              <a:buSzPts val="1800"/>
              <a:buAutoNum type="arabicPeriod"/>
            </a:pPr>
            <a:r>
              <a:rPr lang="en" sz="1800">
                <a:solidFill>
                  <a:schemeClr val="dk2"/>
                </a:solidFill>
              </a:rPr>
              <a:t>Specific Modeling Functions:</a:t>
            </a:r>
            <a:endParaRPr sz="1800">
              <a:solidFill>
                <a:schemeClr val="dk2"/>
              </a:solidFill>
            </a:endParaRPr>
          </a:p>
          <a:p>
            <a:pPr indent="-342900" lvl="0" marL="457200" rtl="0" algn="l">
              <a:spcBef>
                <a:spcPts val="0"/>
              </a:spcBef>
              <a:spcAft>
                <a:spcPts val="0"/>
              </a:spcAft>
              <a:buClr>
                <a:schemeClr val="dk2"/>
              </a:buClr>
              <a:buSzPts val="1800"/>
              <a:buChar char="-"/>
            </a:pPr>
            <a:r>
              <a:rPr lang="en" sz="1800">
                <a:solidFill>
                  <a:schemeClr val="dk2"/>
                </a:solidFill>
              </a:rPr>
              <a:t>Supervised Classification</a:t>
            </a:r>
            <a:endParaRPr sz="1800">
              <a:solidFill>
                <a:schemeClr val="dk2"/>
              </a:solidFill>
            </a:endParaRPr>
          </a:p>
          <a:p>
            <a:pPr indent="-342900" lvl="0" marL="457200" rtl="0" algn="l">
              <a:spcBef>
                <a:spcPts val="0"/>
              </a:spcBef>
              <a:spcAft>
                <a:spcPts val="0"/>
              </a:spcAft>
              <a:buClr>
                <a:schemeClr val="dk2"/>
              </a:buClr>
              <a:buSzPts val="1800"/>
              <a:buChar char="-"/>
            </a:pPr>
            <a:r>
              <a:rPr lang="en" sz="1800">
                <a:solidFill>
                  <a:schemeClr val="dk2"/>
                </a:solidFill>
              </a:rPr>
              <a:t>Linear Curve fitting</a:t>
            </a:r>
            <a:endParaRPr sz="1800">
              <a:solidFill>
                <a:schemeClr val="dk2"/>
              </a:solidFill>
            </a:endParaRPr>
          </a:p>
          <a:p>
            <a:pPr indent="0" lvl="0" marL="0" rtl="0" algn="l">
              <a:spcBef>
                <a:spcPts val="0"/>
              </a:spcBef>
              <a:spcAft>
                <a:spcPts val="0"/>
              </a:spcAft>
              <a:buNone/>
            </a:pPr>
            <a:r>
              <a:t/>
            </a:r>
            <a:endParaRPr sz="1800">
              <a:solidFill>
                <a:schemeClr val="dk2"/>
              </a:solidFill>
            </a:endParaRPr>
          </a:p>
          <a:p>
            <a:pPr indent="-342900" lvl="0" marL="457200" rtl="0" algn="l">
              <a:spcBef>
                <a:spcPts val="0"/>
              </a:spcBef>
              <a:spcAft>
                <a:spcPts val="0"/>
              </a:spcAft>
              <a:buClr>
                <a:schemeClr val="dk2"/>
              </a:buClr>
              <a:buSzPts val="1800"/>
              <a:buAutoNum type="arabicPeriod"/>
            </a:pPr>
            <a:r>
              <a:rPr lang="en" sz="1800">
                <a:solidFill>
                  <a:schemeClr val="dk2"/>
                </a:solidFill>
              </a:rPr>
              <a:t>How plug-and-play is the package?</a:t>
            </a:r>
            <a:endParaRPr sz="1800">
              <a:solidFill>
                <a:schemeClr val="dk2"/>
              </a:solidFill>
            </a:endParaRPr>
          </a:p>
          <a:p>
            <a:pPr indent="0" lvl="0" marL="0" rtl="0" algn="l">
              <a:spcBef>
                <a:spcPts val="0"/>
              </a:spcBef>
              <a:spcAft>
                <a:spcPts val="0"/>
              </a:spcAft>
              <a:buNone/>
            </a:pPr>
            <a:r>
              <a:t/>
            </a:r>
            <a:endParaRPr sz="1800">
              <a:solidFill>
                <a:schemeClr val="dk2"/>
              </a:solidFill>
            </a:endParaRPr>
          </a:p>
          <a:p>
            <a:pPr indent="-342900" lvl="0" marL="457200" rtl="0" algn="l">
              <a:spcBef>
                <a:spcPts val="0"/>
              </a:spcBef>
              <a:spcAft>
                <a:spcPts val="0"/>
              </a:spcAft>
              <a:buClr>
                <a:schemeClr val="dk2"/>
              </a:buClr>
              <a:buSzPts val="1800"/>
              <a:buAutoNum type="arabicPeriod"/>
            </a:pPr>
            <a:r>
              <a:rPr lang="en" sz="1800">
                <a:solidFill>
                  <a:schemeClr val="dk2"/>
                </a:solidFill>
              </a:rPr>
              <a:t>Future growth?</a:t>
            </a:r>
            <a:endParaRPr sz="1800">
              <a:solidFill>
                <a:schemeClr val="dk2"/>
              </a:solidFill>
            </a:endParaRPr>
          </a:p>
        </p:txBody>
      </p:sp>
      <p:sp>
        <p:nvSpPr>
          <p:cNvPr id="69" name="Google Shape;69;p15"/>
          <p:cNvSpPr txBox="1"/>
          <p:nvPr/>
        </p:nvSpPr>
        <p:spPr>
          <a:xfrm>
            <a:off x="139350" y="169200"/>
            <a:ext cx="8539500" cy="738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3600">
                <a:solidFill>
                  <a:schemeClr val="dk2"/>
                </a:solidFill>
              </a:rPr>
              <a:t>Scientific Computing Package Criteria:</a:t>
            </a:r>
            <a:endParaRPr sz="3600">
              <a:solidFill>
                <a:schemeClr val="dk2"/>
              </a:solidFill>
            </a:endParaRPr>
          </a:p>
        </p:txBody>
      </p:sp>
      <p:sp>
        <p:nvSpPr>
          <p:cNvPr id="70" name="Google Shape;70;p15"/>
          <p:cNvSpPr txBox="1"/>
          <p:nvPr/>
        </p:nvSpPr>
        <p:spPr>
          <a:xfrm>
            <a:off x="4904775" y="1232250"/>
            <a:ext cx="3567900" cy="2955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2"/>
                </a:solidFill>
              </a:rPr>
              <a:t>Candidates:</a:t>
            </a:r>
            <a:endParaRPr sz="1800">
              <a:solidFill>
                <a:schemeClr val="dk2"/>
              </a:solidFill>
            </a:endParaRPr>
          </a:p>
          <a:p>
            <a:pPr indent="-342900" lvl="0" marL="457200" rtl="0" algn="l">
              <a:spcBef>
                <a:spcPts val="0"/>
              </a:spcBef>
              <a:spcAft>
                <a:spcPts val="0"/>
              </a:spcAft>
              <a:buClr>
                <a:schemeClr val="dk2"/>
              </a:buClr>
              <a:buSzPts val="1800"/>
              <a:buAutoNum type="arabicPeriod"/>
            </a:pPr>
            <a:r>
              <a:rPr lang="en" sz="1800">
                <a:solidFill>
                  <a:schemeClr val="dk2"/>
                </a:solidFill>
              </a:rPr>
              <a:t>Scikit-learn: </a:t>
            </a:r>
            <a:r>
              <a:rPr lang="en" sz="1800" u="sng">
                <a:solidFill>
                  <a:schemeClr val="hlink"/>
                </a:solidFill>
                <a:hlinkClick r:id="rId3"/>
              </a:rPr>
              <a:t>https://github.com/scikit-learn/scikit-learn</a:t>
            </a:r>
            <a:endParaRPr sz="1800">
              <a:solidFill>
                <a:schemeClr val="dk2"/>
              </a:solidFill>
            </a:endParaRPr>
          </a:p>
          <a:p>
            <a:pPr indent="-342900" lvl="0" marL="457200" rtl="0" algn="l">
              <a:spcBef>
                <a:spcPts val="0"/>
              </a:spcBef>
              <a:spcAft>
                <a:spcPts val="0"/>
              </a:spcAft>
              <a:buClr>
                <a:schemeClr val="dk2"/>
              </a:buClr>
              <a:buSzPts val="1800"/>
              <a:buAutoNum type="arabicPeriod"/>
            </a:pPr>
            <a:r>
              <a:rPr lang="en" sz="1800">
                <a:solidFill>
                  <a:schemeClr val="dk2"/>
                </a:solidFill>
              </a:rPr>
              <a:t>Pynapple: </a:t>
            </a:r>
            <a:r>
              <a:rPr lang="en" sz="1800" u="sng">
                <a:solidFill>
                  <a:schemeClr val="hlink"/>
                </a:solidFill>
                <a:hlinkClick r:id="rId4"/>
              </a:rPr>
              <a:t>https://github.com/pynapple-org/pynapple</a:t>
            </a:r>
            <a:endParaRPr sz="1800">
              <a:solidFill>
                <a:schemeClr val="dk2"/>
              </a:solidFill>
            </a:endParaRPr>
          </a:p>
          <a:p>
            <a:pPr indent="-342900" lvl="0" marL="457200" rtl="0" algn="l">
              <a:spcBef>
                <a:spcPts val="0"/>
              </a:spcBef>
              <a:spcAft>
                <a:spcPts val="0"/>
              </a:spcAft>
              <a:buClr>
                <a:schemeClr val="dk2"/>
              </a:buClr>
              <a:buSzPts val="1800"/>
              <a:buAutoNum type="arabicPeriod"/>
            </a:pPr>
            <a:r>
              <a:rPr lang="en" sz="1800">
                <a:solidFill>
                  <a:schemeClr val="dk2"/>
                </a:solidFill>
              </a:rPr>
              <a:t>Statsmodels: </a:t>
            </a:r>
            <a:r>
              <a:rPr lang="en" sz="1800" u="sng">
                <a:solidFill>
                  <a:schemeClr val="hlink"/>
                </a:solidFill>
                <a:hlinkClick r:id="rId5"/>
              </a:rPr>
              <a:t>https://github.com/statsmodels/statsmodels</a:t>
            </a:r>
            <a:endParaRPr sz="1800">
              <a:solidFill>
                <a:schemeClr val="dk2"/>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 name="Shape 74"/>
        <p:cNvGrpSpPr/>
        <p:nvPr/>
      </p:nvGrpSpPr>
      <p:grpSpPr>
        <a:xfrm>
          <a:off x="0" y="0"/>
          <a:ext cx="0" cy="0"/>
          <a:chOff x="0" y="0"/>
          <a:chExt cx="0" cy="0"/>
        </a:xfrm>
      </p:grpSpPr>
      <p:sp>
        <p:nvSpPr>
          <p:cNvPr id="75" name="Google Shape;75;p16"/>
          <p:cNvSpPr txBox="1"/>
          <p:nvPr>
            <p:ph type="title"/>
          </p:nvPr>
        </p:nvSpPr>
        <p:spPr>
          <a:xfrm>
            <a:off x="311700" y="21540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sz="3155">
                <a:solidFill>
                  <a:schemeClr val="dk2"/>
                </a:solidFill>
              </a:rPr>
              <a:t>Scikit-Learn</a:t>
            </a:r>
            <a:r>
              <a:rPr lang="en"/>
              <a:t> </a:t>
            </a:r>
            <a:endParaRPr/>
          </a:p>
          <a:p>
            <a:pPr indent="0" lvl="0" marL="0" rtl="0" algn="l">
              <a:spcBef>
                <a:spcPts val="0"/>
              </a:spcBef>
              <a:spcAft>
                <a:spcPts val="0"/>
              </a:spcAft>
              <a:buNone/>
            </a:pPr>
            <a:r>
              <a:rPr lang="en" sz="1800" u="sng">
                <a:solidFill>
                  <a:schemeClr val="accent5"/>
                </a:solidFill>
                <a:hlinkClick r:id="rId3">
                  <a:extLst>
                    <a:ext uri="{A12FA001-AC4F-418D-AE19-62706E023703}">
                      <ahyp:hlinkClr val="tx"/>
                    </a:ext>
                  </a:extLst>
                </a:hlinkClick>
              </a:rPr>
              <a:t>https://github.com/scikit-learn/scikit-learn</a:t>
            </a:r>
            <a:endParaRPr/>
          </a:p>
        </p:txBody>
      </p:sp>
      <p:sp>
        <p:nvSpPr>
          <p:cNvPr id="76" name="Google Shape;76;p16"/>
          <p:cNvSpPr txBox="1"/>
          <p:nvPr>
            <p:ph idx="1" type="body"/>
          </p:nvPr>
        </p:nvSpPr>
        <p:spPr>
          <a:xfrm>
            <a:off x="448975" y="1067886"/>
            <a:ext cx="8520600" cy="4397100"/>
          </a:xfrm>
          <a:prstGeom prst="rect">
            <a:avLst/>
          </a:prstGeom>
        </p:spPr>
        <p:txBody>
          <a:bodyPr anchorCtr="0" anchor="t" bIns="91425" lIns="91425" spcFirstLastPara="1" rIns="91425" wrap="square" tIns="91425">
            <a:normAutofit/>
          </a:bodyPr>
          <a:lstStyle/>
          <a:p>
            <a:pPr indent="0" lvl="0" marL="0" rtl="0" algn="l">
              <a:lnSpc>
                <a:spcPct val="115000"/>
              </a:lnSpc>
              <a:spcBef>
                <a:spcPts val="1000"/>
              </a:spcBef>
              <a:spcAft>
                <a:spcPts val="0"/>
              </a:spcAft>
              <a:buNone/>
            </a:pPr>
            <a:r>
              <a:rPr b="1" lang="en" sz="1595"/>
              <a:t>Pros:</a:t>
            </a:r>
            <a:endParaRPr sz="1200"/>
          </a:p>
          <a:p>
            <a:pPr indent="-304800" lvl="0" marL="457200" rtl="0" algn="l">
              <a:lnSpc>
                <a:spcPct val="115000"/>
              </a:lnSpc>
              <a:spcBef>
                <a:spcPts val="1000"/>
              </a:spcBef>
              <a:spcAft>
                <a:spcPts val="0"/>
              </a:spcAft>
              <a:buSzPts val="1200"/>
              <a:buChar char="●"/>
            </a:pPr>
            <a:r>
              <a:rPr lang="en" sz="1200"/>
              <a:t>Built-in implementations for all needed models (classification, logistic regression)</a:t>
            </a:r>
            <a:endParaRPr sz="1200"/>
          </a:p>
          <a:p>
            <a:pPr indent="-304800" lvl="0" marL="457200" rtl="0" algn="l">
              <a:lnSpc>
                <a:spcPct val="115000"/>
              </a:lnSpc>
              <a:spcBef>
                <a:spcPts val="1000"/>
              </a:spcBef>
              <a:spcAft>
                <a:spcPts val="0"/>
              </a:spcAft>
              <a:buSzPts val="1200"/>
              <a:buChar char="●"/>
            </a:pPr>
            <a:r>
              <a:rPr lang="en" sz="1200"/>
              <a:t>Includes extensive tools for model validation (train/test split, cross-validation, performance evaluation metrics)</a:t>
            </a:r>
            <a:endParaRPr sz="1200"/>
          </a:p>
          <a:p>
            <a:pPr indent="-304800" lvl="0" marL="457200" rtl="0" algn="l">
              <a:lnSpc>
                <a:spcPct val="115000"/>
              </a:lnSpc>
              <a:spcBef>
                <a:spcPts val="1000"/>
              </a:spcBef>
              <a:spcAft>
                <a:spcPts val="0"/>
              </a:spcAft>
              <a:buSzPts val="1200"/>
              <a:buChar char="●"/>
            </a:pPr>
            <a:r>
              <a:rPr lang="en" sz="1200"/>
              <a:t>Good compatibility with other packages whether for visualization or further goals</a:t>
            </a:r>
            <a:endParaRPr sz="1200"/>
          </a:p>
          <a:p>
            <a:pPr indent="-304800" lvl="0" marL="457200" rtl="0" algn="l">
              <a:lnSpc>
                <a:spcPct val="115000"/>
              </a:lnSpc>
              <a:spcBef>
                <a:spcPts val="1000"/>
              </a:spcBef>
              <a:spcAft>
                <a:spcPts val="0"/>
              </a:spcAft>
              <a:buSzPts val="1200"/>
              <a:buChar char="●"/>
            </a:pPr>
            <a:r>
              <a:rPr lang="en" sz="1200"/>
              <a:t>Ease of use and consistent workflow, lowering barrier for team work</a:t>
            </a:r>
            <a:endParaRPr sz="1200"/>
          </a:p>
          <a:p>
            <a:pPr indent="-304800" lvl="0" marL="457200" rtl="0" algn="l">
              <a:lnSpc>
                <a:spcPct val="115000"/>
              </a:lnSpc>
              <a:spcBef>
                <a:spcPts val="1000"/>
              </a:spcBef>
              <a:spcAft>
                <a:spcPts val="0"/>
              </a:spcAft>
              <a:buSzPts val="1200"/>
              <a:buChar char="●"/>
            </a:pPr>
            <a:r>
              <a:rPr lang="en" sz="1200"/>
              <a:t>Computationally efficient backed by C python optimized implementations</a:t>
            </a:r>
            <a:endParaRPr sz="1200"/>
          </a:p>
          <a:p>
            <a:pPr indent="0" lvl="0" marL="0" rtl="0" algn="l">
              <a:lnSpc>
                <a:spcPct val="115000"/>
              </a:lnSpc>
              <a:spcBef>
                <a:spcPts val="1000"/>
              </a:spcBef>
              <a:spcAft>
                <a:spcPts val="0"/>
              </a:spcAft>
              <a:buNone/>
            </a:pPr>
            <a:r>
              <a:rPr b="1" lang="en" sz="1595"/>
              <a:t>Cons:</a:t>
            </a:r>
            <a:endParaRPr sz="1200"/>
          </a:p>
          <a:p>
            <a:pPr indent="-304800" lvl="0" marL="457200" rtl="0" algn="l">
              <a:lnSpc>
                <a:spcPct val="115000"/>
              </a:lnSpc>
              <a:spcBef>
                <a:spcPts val="1000"/>
              </a:spcBef>
              <a:spcAft>
                <a:spcPts val="0"/>
              </a:spcAft>
              <a:buSzPts val="1200"/>
              <a:buChar char="●"/>
            </a:pPr>
            <a:r>
              <a:rPr lang="en" sz="1200"/>
              <a:t>Limited statistical inference unlike statsmodels great for prediction accuracy but less suited for formal statistical inference</a:t>
            </a:r>
            <a:endParaRPr sz="1200"/>
          </a:p>
          <a:p>
            <a:pPr indent="-304800" lvl="0" marL="457200" rtl="0" algn="l">
              <a:lnSpc>
                <a:spcPct val="115000"/>
              </a:lnSpc>
              <a:spcBef>
                <a:spcPts val="1000"/>
              </a:spcBef>
              <a:spcAft>
                <a:spcPts val="0"/>
              </a:spcAft>
              <a:buSzPts val="1200"/>
              <a:buChar char="●"/>
            </a:pPr>
            <a:r>
              <a:rPr lang="en" sz="1200"/>
              <a:t>Operates in-memory which can become restrictive for large-scale neural datasets</a:t>
            </a:r>
            <a:endParaRPr sz="1200"/>
          </a:p>
          <a:p>
            <a:pPr indent="-304800" lvl="0" marL="457200" rtl="0" algn="l">
              <a:lnSpc>
                <a:spcPct val="115000"/>
              </a:lnSpc>
              <a:spcBef>
                <a:spcPts val="1000"/>
              </a:spcBef>
              <a:spcAft>
                <a:spcPts val="0"/>
              </a:spcAft>
              <a:buSzPts val="1200"/>
              <a:buChar char="●"/>
            </a:pPr>
            <a:r>
              <a:rPr lang="en" sz="1200"/>
              <a:t>No native neural data support</a:t>
            </a:r>
            <a:endParaRPr sz="1100">
              <a:solidFill>
                <a:schemeClr val="dk1"/>
              </a:solidFill>
            </a:endParaRPr>
          </a:p>
          <a:p>
            <a:pPr indent="0" lvl="0" marL="0" rtl="0" algn="l">
              <a:lnSpc>
                <a:spcPct val="115000"/>
              </a:lnSpc>
              <a:spcBef>
                <a:spcPts val="1000"/>
              </a:spcBef>
              <a:spcAft>
                <a:spcPts val="1200"/>
              </a:spcAft>
              <a:buNone/>
            </a:pPr>
            <a:r>
              <a:t/>
            </a:r>
            <a:endParaRPr>
              <a:solidFill>
                <a:schemeClr val="dk1"/>
              </a:solidFill>
            </a:endParaRPr>
          </a:p>
        </p:txBody>
      </p:sp>
      <p:pic>
        <p:nvPicPr>
          <p:cNvPr id="77" name="Google Shape;77;p16" title="Screenshot 2025-11-13 at 9.16.55 AM.png"/>
          <p:cNvPicPr preferRelativeResize="0"/>
          <p:nvPr/>
        </p:nvPicPr>
        <p:blipFill>
          <a:blip r:embed="rId4">
            <a:alphaModFix/>
          </a:blip>
          <a:stretch>
            <a:fillRect/>
          </a:stretch>
        </p:blipFill>
        <p:spPr>
          <a:xfrm>
            <a:off x="7435625" y="4308200"/>
            <a:ext cx="1645475" cy="78767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 name="Shape 81"/>
        <p:cNvGrpSpPr/>
        <p:nvPr/>
      </p:nvGrpSpPr>
      <p:grpSpPr>
        <a:xfrm>
          <a:off x="0" y="0"/>
          <a:ext cx="0" cy="0"/>
          <a:chOff x="0" y="0"/>
          <a:chExt cx="0" cy="0"/>
        </a:xfrm>
      </p:grpSpPr>
      <p:sp>
        <p:nvSpPr>
          <p:cNvPr id="82" name="Google Shape;82;p17"/>
          <p:cNvSpPr txBox="1"/>
          <p:nvPr>
            <p:ph type="title"/>
          </p:nvPr>
        </p:nvSpPr>
        <p:spPr>
          <a:xfrm>
            <a:off x="311700" y="2613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sz="3155">
                <a:solidFill>
                  <a:schemeClr val="dk2"/>
                </a:solidFill>
              </a:rPr>
              <a:t>Pynapple</a:t>
            </a:r>
            <a:endParaRPr sz="3155">
              <a:solidFill>
                <a:schemeClr val="dk2"/>
              </a:solidFill>
            </a:endParaRPr>
          </a:p>
          <a:p>
            <a:pPr indent="0" lvl="0" marL="0" rtl="0" algn="l">
              <a:spcBef>
                <a:spcPts val="0"/>
              </a:spcBef>
              <a:spcAft>
                <a:spcPts val="0"/>
              </a:spcAft>
              <a:buNone/>
            </a:pPr>
            <a:r>
              <a:rPr lang="en" sz="1800">
                <a:solidFill>
                  <a:schemeClr val="dk2"/>
                </a:solidFill>
              </a:rPr>
              <a:t> </a:t>
            </a:r>
            <a:r>
              <a:rPr lang="en" sz="1800" u="sng">
                <a:solidFill>
                  <a:schemeClr val="accent5"/>
                </a:solidFill>
                <a:hlinkClick r:id="rId3">
                  <a:extLst>
                    <a:ext uri="{A12FA001-AC4F-418D-AE19-62706E023703}">
                      <ahyp:hlinkClr val="tx"/>
                    </a:ext>
                  </a:extLst>
                </a:hlinkClick>
              </a:rPr>
              <a:t>https://github.com/pynapple-org/pynapple</a:t>
            </a:r>
            <a:endParaRPr/>
          </a:p>
        </p:txBody>
      </p:sp>
      <p:sp>
        <p:nvSpPr>
          <p:cNvPr id="83" name="Google Shape;83;p17"/>
          <p:cNvSpPr txBox="1"/>
          <p:nvPr>
            <p:ph idx="1" type="body"/>
          </p:nvPr>
        </p:nvSpPr>
        <p:spPr>
          <a:xfrm>
            <a:off x="311700" y="1237750"/>
            <a:ext cx="8520600" cy="3779400"/>
          </a:xfrm>
          <a:prstGeom prst="rect">
            <a:avLst/>
          </a:prstGeom>
        </p:spPr>
        <p:txBody>
          <a:bodyPr anchorCtr="0" anchor="t" bIns="91425" lIns="91425" spcFirstLastPara="1" rIns="91425" wrap="square" tIns="91425">
            <a:normAutofit lnSpcReduction="20000"/>
          </a:bodyPr>
          <a:lstStyle/>
          <a:p>
            <a:pPr indent="0" lvl="0" marL="0" rtl="0" algn="l">
              <a:lnSpc>
                <a:spcPct val="200000"/>
              </a:lnSpc>
              <a:spcBef>
                <a:spcPts val="0"/>
              </a:spcBef>
              <a:spcAft>
                <a:spcPts val="0"/>
              </a:spcAft>
              <a:buNone/>
            </a:pPr>
            <a:r>
              <a:rPr b="1" lang="en" sz="1722"/>
              <a:t>Pros: </a:t>
            </a:r>
            <a:endParaRPr sz="1327"/>
          </a:p>
          <a:p>
            <a:pPr indent="-319135" lvl="0" marL="457200" rtl="0" algn="l">
              <a:lnSpc>
                <a:spcPct val="200000"/>
              </a:lnSpc>
              <a:spcBef>
                <a:spcPts val="0"/>
              </a:spcBef>
              <a:spcAft>
                <a:spcPts val="0"/>
              </a:spcAft>
              <a:buSzPts val="1426"/>
              <a:buChar char="●"/>
            </a:pPr>
            <a:r>
              <a:rPr lang="en" sz="1425"/>
              <a:t>Plug and play</a:t>
            </a:r>
            <a:endParaRPr sz="1425"/>
          </a:p>
          <a:p>
            <a:pPr indent="-319135" lvl="0" marL="457200" rtl="0" algn="l">
              <a:lnSpc>
                <a:spcPct val="200000"/>
              </a:lnSpc>
              <a:spcBef>
                <a:spcPts val="0"/>
              </a:spcBef>
              <a:spcAft>
                <a:spcPts val="0"/>
              </a:spcAft>
              <a:buClr>
                <a:schemeClr val="dk1"/>
              </a:buClr>
              <a:buSzPts val="1426"/>
              <a:buChar char="●"/>
            </a:pPr>
            <a:r>
              <a:rPr lang="en" sz="1425"/>
              <a:t>Purpose built neural computing package</a:t>
            </a:r>
            <a:endParaRPr sz="1425"/>
          </a:p>
          <a:p>
            <a:pPr indent="-319135" lvl="0" marL="457200" rtl="0" algn="l">
              <a:lnSpc>
                <a:spcPct val="200000"/>
              </a:lnSpc>
              <a:spcBef>
                <a:spcPts val="0"/>
              </a:spcBef>
              <a:spcAft>
                <a:spcPts val="0"/>
              </a:spcAft>
              <a:buClr>
                <a:schemeClr val="dk1"/>
              </a:buClr>
              <a:buSzPts val="1426"/>
              <a:buChar char="●"/>
            </a:pPr>
            <a:r>
              <a:rPr lang="en" sz="1425"/>
              <a:t>High growth potential: interfaces with advanced computing modules</a:t>
            </a:r>
            <a:endParaRPr sz="1200"/>
          </a:p>
          <a:p>
            <a:pPr indent="0" lvl="0" marL="0" rtl="0" algn="l">
              <a:lnSpc>
                <a:spcPct val="200000"/>
              </a:lnSpc>
              <a:spcBef>
                <a:spcPts val="0"/>
              </a:spcBef>
              <a:spcAft>
                <a:spcPts val="0"/>
              </a:spcAft>
              <a:buNone/>
            </a:pPr>
            <a:r>
              <a:rPr b="1" lang="en" sz="1722"/>
              <a:t>Cons:</a:t>
            </a:r>
            <a:endParaRPr sz="1327"/>
          </a:p>
          <a:p>
            <a:pPr indent="-319740" lvl="0" marL="457200" rtl="0" algn="l">
              <a:lnSpc>
                <a:spcPct val="200000"/>
              </a:lnSpc>
              <a:spcBef>
                <a:spcPts val="0"/>
              </a:spcBef>
              <a:spcAft>
                <a:spcPts val="0"/>
              </a:spcAft>
              <a:buSzPts val="1435"/>
              <a:buChar char="●"/>
            </a:pPr>
            <a:r>
              <a:rPr lang="en" sz="1435"/>
              <a:t>Highly Technical/Steep learning curve (Attend 3 day workshop to gain proficiency)</a:t>
            </a:r>
            <a:endParaRPr sz="1435"/>
          </a:p>
          <a:p>
            <a:pPr indent="-319740" lvl="0" marL="457200" rtl="0" algn="l">
              <a:lnSpc>
                <a:spcPct val="200000"/>
              </a:lnSpc>
              <a:spcBef>
                <a:spcPts val="0"/>
              </a:spcBef>
              <a:spcAft>
                <a:spcPts val="0"/>
              </a:spcAft>
              <a:buSzPts val="1435"/>
              <a:buChar char="●"/>
            </a:pPr>
            <a:r>
              <a:rPr lang="en" sz="1435"/>
              <a:t>Poor support for simpler, linear classifiers</a:t>
            </a:r>
            <a:endParaRPr sz="1435"/>
          </a:p>
          <a:p>
            <a:pPr indent="0" lvl="0" marL="0" rtl="0" algn="l">
              <a:lnSpc>
                <a:spcPct val="200000"/>
              </a:lnSpc>
              <a:spcBef>
                <a:spcPts val="300"/>
              </a:spcBef>
              <a:spcAft>
                <a:spcPts val="0"/>
              </a:spcAft>
              <a:buNone/>
            </a:pPr>
            <a:r>
              <a:t/>
            </a:r>
            <a:endParaRPr sz="1200"/>
          </a:p>
          <a:p>
            <a:pPr indent="0" lvl="0" marL="0" rtl="0" algn="l">
              <a:spcBef>
                <a:spcPts val="0"/>
              </a:spcBef>
              <a:spcAft>
                <a:spcPts val="1200"/>
              </a:spcAft>
              <a:buNone/>
            </a:pPr>
            <a:r>
              <a:t/>
            </a:r>
            <a:endParaRPr sz="1200"/>
          </a:p>
        </p:txBody>
      </p:sp>
      <p:pic>
        <p:nvPicPr>
          <p:cNvPr id="84" name="Google Shape;84;p17" title="Screenshot 2025-11-13 at 11.12.42 AM.png"/>
          <p:cNvPicPr preferRelativeResize="0"/>
          <p:nvPr/>
        </p:nvPicPr>
        <p:blipFill>
          <a:blip r:embed="rId4">
            <a:alphaModFix/>
          </a:blip>
          <a:stretch>
            <a:fillRect/>
          </a:stretch>
        </p:blipFill>
        <p:spPr>
          <a:xfrm>
            <a:off x="7450150" y="4465271"/>
            <a:ext cx="1572375" cy="513654"/>
          </a:xfrm>
          <a:prstGeom prst="rect">
            <a:avLst/>
          </a:prstGeom>
          <a:noFill/>
          <a:ln>
            <a:noFill/>
          </a:ln>
        </p:spPr>
      </p:pic>
      <p:pic>
        <p:nvPicPr>
          <p:cNvPr id="85" name="Google Shape;85;p17" title="Screenshot 2025-11-13 at 11.18.02 AM.png"/>
          <p:cNvPicPr preferRelativeResize="0"/>
          <p:nvPr/>
        </p:nvPicPr>
        <p:blipFill>
          <a:blip r:embed="rId5">
            <a:alphaModFix/>
          </a:blip>
          <a:stretch>
            <a:fillRect/>
          </a:stretch>
        </p:blipFill>
        <p:spPr>
          <a:xfrm>
            <a:off x="4484150" y="78650"/>
            <a:ext cx="4621276" cy="129522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 name="Shape 89"/>
        <p:cNvGrpSpPr/>
        <p:nvPr/>
      </p:nvGrpSpPr>
      <p:grpSpPr>
        <a:xfrm>
          <a:off x="0" y="0"/>
          <a:ext cx="0" cy="0"/>
          <a:chOff x="0" y="0"/>
          <a:chExt cx="0" cy="0"/>
        </a:xfrm>
      </p:grpSpPr>
      <p:sp>
        <p:nvSpPr>
          <p:cNvPr id="90" name="Google Shape;90;p18"/>
          <p:cNvSpPr txBox="1"/>
          <p:nvPr>
            <p:ph type="title"/>
          </p:nvPr>
        </p:nvSpPr>
        <p:spPr>
          <a:xfrm>
            <a:off x="311700" y="222000"/>
            <a:ext cx="8520600" cy="8196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sz="3155">
                <a:solidFill>
                  <a:schemeClr val="dk2"/>
                </a:solidFill>
              </a:rPr>
              <a:t>Statsmodels</a:t>
            </a:r>
            <a:endParaRPr sz="1355">
              <a:solidFill>
                <a:schemeClr val="dk2"/>
              </a:solidFill>
            </a:endParaRPr>
          </a:p>
          <a:p>
            <a:pPr indent="0" lvl="0" marL="0" rtl="0" algn="l">
              <a:spcBef>
                <a:spcPts val="0"/>
              </a:spcBef>
              <a:spcAft>
                <a:spcPts val="0"/>
              </a:spcAft>
              <a:buNone/>
            </a:pPr>
            <a:r>
              <a:rPr lang="en" sz="1800" u="sng">
                <a:solidFill>
                  <a:schemeClr val="accent5"/>
                </a:solidFill>
                <a:hlinkClick r:id="rId3">
                  <a:extLst>
                    <a:ext uri="{A12FA001-AC4F-418D-AE19-62706E023703}">
                      <ahyp:hlinkClr val="tx"/>
                    </a:ext>
                  </a:extLst>
                </a:hlinkClick>
              </a:rPr>
              <a:t>https://github.com/statsmodels/statsmodels</a:t>
            </a:r>
            <a:endParaRPr/>
          </a:p>
        </p:txBody>
      </p:sp>
      <p:sp>
        <p:nvSpPr>
          <p:cNvPr id="91" name="Google Shape;91;p18"/>
          <p:cNvSpPr txBox="1"/>
          <p:nvPr>
            <p:ph idx="1" type="body"/>
          </p:nvPr>
        </p:nvSpPr>
        <p:spPr>
          <a:xfrm>
            <a:off x="515075" y="1152475"/>
            <a:ext cx="8520600" cy="3910800"/>
          </a:xfrm>
          <a:prstGeom prst="rect">
            <a:avLst/>
          </a:prstGeom>
        </p:spPr>
        <p:txBody>
          <a:bodyPr anchorCtr="0" anchor="t" bIns="91425" lIns="91425" spcFirstLastPara="1" rIns="91425" wrap="square" tIns="91425">
            <a:normAutofit/>
          </a:bodyPr>
          <a:lstStyle/>
          <a:p>
            <a:pPr indent="0" lvl="0" marL="0" rtl="0" algn="l">
              <a:lnSpc>
                <a:spcPct val="95000"/>
              </a:lnSpc>
              <a:spcBef>
                <a:spcPts val="1200"/>
              </a:spcBef>
              <a:spcAft>
                <a:spcPts val="0"/>
              </a:spcAft>
              <a:buSzPts val="605"/>
              <a:buNone/>
            </a:pPr>
            <a:r>
              <a:rPr b="1" lang="en" sz="1595"/>
              <a:t>Pros</a:t>
            </a:r>
            <a:endParaRPr b="1" sz="1595"/>
          </a:p>
          <a:p>
            <a:pPr indent="-304800" lvl="0" marL="457200" rtl="0" algn="l">
              <a:lnSpc>
                <a:spcPct val="95000"/>
              </a:lnSpc>
              <a:spcBef>
                <a:spcPts val="1200"/>
              </a:spcBef>
              <a:spcAft>
                <a:spcPts val="0"/>
              </a:spcAft>
              <a:buSzPts val="1200"/>
              <a:buChar char="●"/>
            </a:pPr>
            <a:r>
              <a:rPr lang="en" sz="1200"/>
              <a:t>Easy, transparent workflow for linear/logistic regression</a:t>
            </a:r>
            <a:endParaRPr sz="1200"/>
          </a:p>
          <a:p>
            <a:pPr indent="-304800" lvl="0" marL="457200" rtl="0" algn="l">
              <a:lnSpc>
                <a:spcPct val="95000"/>
              </a:lnSpc>
              <a:spcBef>
                <a:spcPts val="1200"/>
              </a:spcBef>
              <a:spcAft>
                <a:spcPts val="0"/>
              </a:spcAft>
              <a:buSzPts val="1200"/>
              <a:buChar char="●"/>
            </a:pPr>
            <a:r>
              <a:rPr lang="en" sz="1200"/>
              <a:t>Highly interpretable outputs (coefficients, SEs, p-values, CIs)</a:t>
            </a:r>
            <a:br>
              <a:rPr lang="en" sz="1200"/>
            </a:br>
            <a:endParaRPr sz="1200"/>
          </a:p>
          <a:p>
            <a:pPr indent="-304800" lvl="0" marL="457200" rtl="0" algn="l">
              <a:lnSpc>
                <a:spcPct val="95000"/>
              </a:lnSpc>
              <a:spcBef>
                <a:spcPts val="0"/>
              </a:spcBef>
              <a:spcAft>
                <a:spcPts val="0"/>
              </a:spcAft>
              <a:buSzPts val="1200"/>
              <a:buChar char="●"/>
            </a:pPr>
            <a:r>
              <a:rPr lang="en" sz="1200"/>
              <a:t>Great for understanding </a:t>
            </a:r>
            <a:r>
              <a:rPr b="1" i="1" lang="en" sz="1200"/>
              <a:t>why</a:t>
            </a:r>
            <a:r>
              <a:rPr lang="en" sz="1200"/>
              <a:t> a model makes decisions</a:t>
            </a:r>
            <a:br>
              <a:rPr lang="en" sz="1200"/>
            </a:br>
            <a:endParaRPr sz="1200"/>
          </a:p>
          <a:p>
            <a:pPr indent="-304532" lvl="0" marL="457200" rtl="0" algn="l">
              <a:lnSpc>
                <a:spcPct val="95000"/>
              </a:lnSpc>
              <a:spcBef>
                <a:spcPts val="0"/>
              </a:spcBef>
              <a:spcAft>
                <a:spcPts val="0"/>
              </a:spcAft>
              <a:buSzPts val="1196"/>
              <a:buChar char="●"/>
            </a:pPr>
            <a:r>
              <a:rPr lang="en" sz="1200"/>
              <a:t>Well-suited for tuning-curve–style, statistically oriented analyses</a:t>
            </a:r>
            <a:endParaRPr sz="880"/>
          </a:p>
          <a:p>
            <a:pPr indent="0" lvl="0" marL="0" rtl="0" algn="l">
              <a:lnSpc>
                <a:spcPct val="95000"/>
              </a:lnSpc>
              <a:spcBef>
                <a:spcPts val="1200"/>
              </a:spcBef>
              <a:spcAft>
                <a:spcPts val="0"/>
              </a:spcAft>
              <a:buSzPts val="605"/>
              <a:buNone/>
            </a:pPr>
            <a:r>
              <a:rPr b="1" lang="en" sz="1595"/>
              <a:t>Cons</a:t>
            </a:r>
            <a:endParaRPr sz="1200"/>
          </a:p>
          <a:p>
            <a:pPr indent="-304800" lvl="0" marL="457200" rtl="0" algn="l">
              <a:lnSpc>
                <a:spcPct val="95000"/>
              </a:lnSpc>
              <a:spcBef>
                <a:spcPts val="1200"/>
              </a:spcBef>
              <a:spcAft>
                <a:spcPts val="0"/>
              </a:spcAft>
              <a:buSzPts val="1200"/>
              <a:buChar char="●"/>
            </a:pPr>
            <a:r>
              <a:rPr lang="en" sz="1200"/>
              <a:t>Not designed for neural data → manual spike-data formatting required</a:t>
            </a:r>
            <a:br>
              <a:rPr lang="en" sz="1200"/>
            </a:br>
            <a:endParaRPr sz="1200"/>
          </a:p>
          <a:p>
            <a:pPr indent="-304800" lvl="0" marL="457200" rtl="0" algn="l">
              <a:lnSpc>
                <a:spcPct val="95000"/>
              </a:lnSpc>
              <a:spcBef>
                <a:spcPts val="0"/>
              </a:spcBef>
              <a:spcAft>
                <a:spcPts val="0"/>
              </a:spcAft>
              <a:buSzPts val="1200"/>
              <a:buChar char="●"/>
            </a:pPr>
            <a:r>
              <a:rPr lang="en" sz="1200"/>
              <a:t>No built-in regularization or cross-validation</a:t>
            </a:r>
            <a:br>
              <a:rPr lang="en" sz="1200"/>
            </a:br>
            <a:endParaRPr sz="1200"/>
          </a:p>
          <a:p>
            <a:pPr indent="-304800" lvl="0" marL="457200" rtl="0" algn="l">
              <a:lnSpc>
                <a:spcPct val="95000"/>
              </a:lnSpc>
              <a:spcBef>
                <a:spcPts val="0"/>
              </a:spcBef>
              <a:spcAft>
                <a:spcPts val="0"/>
              </a:spcAft>
              <a:buSzPts val="1200"/>
              <a:buChar char="●"/>
            </a:pPr>
            <a:r>
              <a:rPr lang="en" sz="1200"/>
              <a:t>Less suitable for high-performance decoding tasks</a:t>
            </a:r>
            <a:endParaRPr sz="989">
              <a:solidFill>
                <a:schemeClr val="dk1"/>
              </a:solidFill>
            </a:endParaRPr>
          </a:p>
        </p:txBody>
      </p:sp>
      <p:pic>
        <p:nvPicPr>
          <p:cNvPr id="92" name="Google Shape;92;p18" title="Screenshot 2025-11-12 at 2.43.22 PM.png"/>
          <p:cNvPicPr preferRelativeResize="0"/>
          <p:nvPr/>
        </p:nvPicPr>
        <p:blipFill>
          <a:blip r:embed="rId4">
            <a:alphaModFix/>
          </a:blip>
          <a:stretch>
            <a:fillRect/>
          </a:stretch>
        </p:blipFill>
        <p:spPr>
          <a:xfrm>
            <a:off x="7101050" y="4577125"/>
            <a:ext cx="2006826" cy="335900"/>
          </a:xfrm>
          <a:prstGeom prst="rect">
            <a:avLst/>
          </a:prstGeom>
          <a:noFill/>
          <a:ln>
            <a:noFill/>
          </a:ln>
        </p:spPr>
      </p:pic>
      <p:pic>
        <p:nvPicPr>
          <p:cNvPr id="93" name="Google Shape;93;p18" title="Screenshot 2025-11-12 at 2.49.54 PM.png"/>
          <p:cNvPicPr preferRelativeResize="0"/>
          <p:nvPr/>
        </p:nvPicPr>
        <p:blipFill>
          <a:blip r:embed="rId5">
            <a:alphaModFix/>
          </a:blip>
          <a:stretch>
            <a:fillRect/>
          </a:stretch>
        </p:blipFill>
        <p:spPr>
          <a:xfrm>
            <a:off x="5803637" y="90775"/>
            <a:ext cx="3269802" cy="2452344"/>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sp>
        <p:nvSpPr>
          <p:cNvPr id="98" name="Google Shape;98;p1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Summary of Selection:</a:t>
            </a:r>
            <a:endParaRPr/>
          </a:p>
        </p:txBody>
      </p:sp>
      <p:sp>
        <p:nvSpPr>
          <p:cNvPr id="99" name="Google Shape;99;p19"/>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All packages: </a:t>
            </a:r>
            <a:endParaRPr/>
          </a:p>
          <a:p>
            <a:pPr indent="-342900" lvl="0" marL="457200" rtl="0" algn="l">
              <a:spcBef>
                <a:spcPts val="1200"/>
              </a:spcBef>
              <a:spcAft>
                <a:spcPts val="0"/>
              </a:spcAft>
              <a:buSzPts val="1800"/>
              <a:buChar char="●"/>
            </a:pPr>
            <a:r>
              <a:rPr lang="en"/>
              <a:t>Built-in implementations for linear regression/classification models</a:t>
            </a:r>
            <a:endParaRPr/>
          </a:p>
          <a:p>
            <a:pPr indent="-342900" lvl="0" marL="457200" rtl="0" algn="l">
              <a:spcBef>
                <a:spcPts val="0"/>
              </a:spcBef>
              <a:spcAft>
                <a:spcPts val="0"/>
              </a:spcAft>
              <a:buSzPts val="1800"/>
              <a:buChar char="●"/>
            </a:pPr>
            <a:r>
              <a:rPr lang="en"/>
              <a:t>Need some reformatting of neural data</a:t>
            </a:r>
            <a:endParaRPr/>
          </a:p>
          <a:p>
            <a:pPr indent="0" lvl="0" marL="0" rtl="0" algn="l">
              <a:spcBef>
                <a:spcPts val="1200"/>
              </a:spcBef>
              <a:spcAft>
                <a:spcPts val="0"/>
              </a:spcAft>
              <a:buNone/>
            </a:pPr>
            <a:r>
              <a:rPr lang="en"/>
              <a:t>Scikit-Learn </a:t>
            </a:r>
            <a:endParaRPr/>
          </a:p>
          <a:p>
            <a:pPr indent="-342900" lvl="0" marL="457200" rtl="0" algn="l">
              <a:lnSpc>
                <a:spcPct val="150000"/>
              </a:lnSpc>
              <a:spcBef>
                <a:spcPts val="1200"/>
              </a:spcBef>
              <a:spcAft>
                <a:spcPts val="0"/>
              </a:spcAft>
              <a:buSzPts val="1800"/>
              <a:buChar char="●"/>
            </a:pPr>
            <a:r>
              <a:rPr lang="en"/>
              <a:t>Model validation tools and compatibility with visualization packages</a:t>
            </a:r>
            <a:endParaRPr/>
          </a:p>
          <a:p>
            <a:pPr indent="-317500" lvl="1" marL="914400" rtl="0" algn="l">
              <a:spcBef>
                <a:spcPts val="0"/>
              </a:spcBef>
              <a:spcAft>
                <a:spcPts val="0"/>
              </a:spcAft>
              <a:buSzPts val="1400"/>
              <a:buChar char="○"/>
            </a:pPr>
            <a:r>
              <a:rPr lang="en"/>
              <a:t>Important to validating our decoder models</a:t>
            </a:r>
            <a:endParaRPr/>
          </a:p>
          <a:p>
            <a:pPr indent="-342900" lvl="0" marL="457200" rtl="0" algn="l">
              <a:spcBef>
                <a:spcPts val="0"/>
              </a:spcBef>
              <a:spcAft>
                <a:spcPts val="0"/>
              </a:spcAft>
              <a:buSzPts val="1800"/>
              <a:buChar char="●"/>
            </a:pPr>
            <a:r>
              <a:rPr lang="en"/>
              <a:t>Compatibility with other packages would make visualizations + statistical analysis easier later</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sp>
        <p:nvSpPr>
          <p:cNvPr id="104" name="Google Shape;104;p20"/>
          <p:cNvSpPr txBox="1"/>
          <p:nvPr>
            <p:ph type="ctrTitle"/>
          </p:nvPr>
        </p:nvSpPr>
        <p:spPr>
          <a:xfrm>
            <a:off x="282359" y="952078"/>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a:t>THANK YOU</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